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05288" y="886968"/>
            <a:ext cx="1005840" cy="548640"/>
          </a:xfrm>
          <a:prstGeom prst="line">
            <a:avLst/>
          </a:prstGeom>
          <a:noFill/>
          <a:ln w="12700">
            <a:solidFill>
              <a:srgbClr val="2634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11128" y="1435608"/>
            <a:ext cx="-548640" cy="822960"/>
          </a:xfrm>
          <a:prstGeom prst="line">
            <a:avLst/>
          </a:prstGeom>
          <a:noFill/>
          <a:ln w="12700">
            <a:solidFill>
              <a:srgbClr val="2634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62488" y="2258568"/>
            <a:ext cx="914400" cy="548640"/>
          </a:xfrm>
          <a:prstGeom prst="line">
            <a:avLst/>
          </a:prstGeom>
          <a:noFill/>
          <a:ln w="12700">
            <a:solidFill>
              <a:srgbClr val="26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56648" y="1892808"/>
            <a:ext cx="1005840" cy="365760"/>
          </a:xfrm>
          <a:prstGeom prst="line">
            <a:avLst/>
          </a:prstGeom>
          <a:noFill/>
          <a:ln w="12700">
            <a:solidFill>
              <a:srgbClr val="2634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0" y="82296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0" y="1371600"/>
            <a:ext cx="128016" cy="1280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219456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0" y="2743200"/>
            <a:ext cx="128016" cy="1280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0" y="182880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FRONT-OFFICE TECHNOLOGY · CAPITAL MARKETS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Rates E-Trading Desktop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AMPS-Based Unified Trading Platform</a:t>
            </a:r>
            <a:pPr indent="0" marL="0">
              <a:buNone/>
            </a:pPr>
            <a:r>
              <a:rPr lang="en-US" sz="1800" dirty="0">
                <a:solidFill>
                  <a:srgbClr val="B7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RFQ + CLOB on a single OpenFin desktop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22960" y="4434840"/>
            <a:ext cx="3383280" cy="1417320"/>
          </a:xfrm>
          <a:prstGeom prst="rect">
            <a:avLst/>
          </a:prstGeom>
          <a:solidFill>
            <a:srgbClr val="121C30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" y="4434840"/>
            <a:ext cx="64008" cy="14173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1115568" y="5285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</a:rPr>
              <a:t>Trading stacks unified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15568" y="5541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2D6"/>
                </a:solidFill>
              </a:rPr>
              <a:t>RFQ + CLOB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434840" y="4434840"/>
            <a:ext cx="3383280" cy="1417320"/>
          </a:xfrm>
          <a:prstGeom prst="rect">
            <a:avLst/>
          </a:prstGeom>
          <a:solidFill>
            <a:srgbClr val="121C30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434840" y="4434840"/>
            <a:ext cx="64008" cy="14173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4727448" y="5285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</a:rPr>
              <a:t>Desktop experience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727448" y="5541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2D6"/>
                </a:solidFill>
              </a:rPr>
              <a:t>OpenFin Workspace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046720" y="4434840"/>
            <a:ext cx="3383280" cy="1417320"/>
          </a:xfrm>
          <a:prstGeom prst="rect">
            <a:avLst/>
          </a:prstGeom>
          <a:solidFill>
            <a:srgbClr val="121C30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046720" y="4434840"/>
            <a:ext cx="64008" cy="14173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Text 24"/>
          <p:cNvSpPr/>
          <p:nvPr/>
        </p:nvSpPr>
        <p:spPr>
          <a:xfrm>
            <a:off x="8321040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8339328" y="5285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</a:rPr>
              <a:t>Production target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339328" y="5541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2D6"/>
                </a:solidFill>
              </a:rPr>
              <a:t>End of June 2026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2D6"/>
                </a:solidFill>
              </a:rPr>
              <a:t>Senior Management Update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AMPS-Based Data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26A"/>
                </a:solidFill>
              </a:rPr>
              <a:t>Two independent stacks (RFQ and CLOB) follow an identical pipeline, converging into one OpenFin desktop.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30552"/>
            <a:ext cx="1143000" cy="713232"/>
          </a:xfrm>
          <a:prstGeom prst="roundRect">
            <a:avLst>
              <a:gd name="adj" fmla="val 10256"/>
            </a:avLst>
          </a:prstGeom>
          <a:solidFill>
            <a:srgbClr val="121C30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RFQ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53288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2DD4BF"/>
                </a:solidFill>
              </a:rPr>
              <a:t>STACK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74520" y="1965960"/>
            <a:ext cx="1298448" cy="1024128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74520" y="1965960"/>
            <a:ext cx="1298448" cy="54864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12264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11096" y="244144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1"/>
                </a:solidFill>
              </a:rPr>
              <a:t>CAMM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911096" y="272491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47526A"/>
                </a:solidFill>
              </a:rPr>
              <a:t>RFQ / CLOB venue</a:t>
            </a:r>
            <a:endParaRPr lang="en-US" sz="78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995" y="2368296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33902" y="1965960"/>
            <a:ext cx="1298448" cy="1024128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333902" y="1965960"/>
            <a:ext cx="1298448" cy="54864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822" y="211226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70478" y="244144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1"/>
                </a:solidFill>
              </a:rPr>
              <a:t>Solace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3370478" y="272491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47526A"/>
                </a:solidFill>
              </a:rPr>
              <a:t>Messaging bus</a:t>
            </a:r>
            <a:endParaRPr lang="en-US" sz="78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378" y="2368296"/>
            <a:ext cx="182880" cy="182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793285" y="1965960"/>
            <a:ext cx="1298448" cy="1024128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93285" y="1965960"/>
            <a:ext cx="1298448" cy="54864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6205" y="2112264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29861" y="244144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1"/>
                </a:solidFill>
              </a:rPr>
              <a:t>Rubicon Bridges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4829861" y="272491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47526A"/>
                </a:solidFill>
              </a:rPr>
              <a:t>Java processes</a:t>
            </a:r>
            <a:endParaRPr lang="en-US" sz="78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2368296"/>
            <a:ext cx="182880" cy="1828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252667" y="1965960"/>
            <a:ext cx="1298448" cy="1024128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252667" y="1965960"/>
            <a:ext cx="1298448" cy="54864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5587" y="2112264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289243" y="244144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1"/>
                </a:solidFill>
              </a:rPr>
              <a:t>Coherence Cache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6289243" y="272491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47526A"/>
                </a:solidFill>
              </a:rPr>
              <a:t>In-memory grid</a:t>
            </a:r>
            <a:endParaRPr lang="en-US" sz="78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0142" y="2368296"/>
            <a:ext cx="182880" cy="18288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7712050" y="1965960"/>
            <a:ext cx="1298448" cy="1024128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7712050" y="1965960"/>
            <a:ext cx="1298448" cy="54864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4970" y="2112264"/>
            <a:ext cx="292608" cy="29260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748626" y="244144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1"/>
                </a:solidFill>
              </a:rPr>
              <a:t>E-Trading Adapter</a:t>
            </a:r>
            <a:endParaRPr lang="en-US" sz="1050" dirty="0"/>
          </a:p>
        </p:txBody>
      </p:sp>
      <p:sp>
        <p:nvSpPr>
          <p:cNvPr id="36" name="Text 25"/>
          <p:cNvSpPr/>
          <p:nvPr/>
        </p:nvSpPr>
        <p:spPr>
          <a:xfrm>
            <a:off x="7748626" y="272491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47526A"/>
                </a:solidFill>
              </a:rPr>
              <a:t>Spring Boot Java process</a:t>
            </a:r>
            <a:endParaRPr lang="en-US" sz="78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99525" y="2368296"/>
            <a:ext cx="182880" cy="182880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9171432" y="1965960"/>
            <a:ext cx="1298448" cy="1024128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27"/>
          <p:cNvSpPr/>
          <p:nvPr/>
        </p:nvSpPr>
        <p:spPr>
          <a:xfrm>
            <a:off x="9171432" y="1965960"/>
            <a:ext cx="1298448" cy="54864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4352" y="2112264"/>
            <a:ext cx="292608" cy="292608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9208008" y="244144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1"/>
                </a:solidFill>
              </a:rPr>
              <a:t>AMPS</a:t>
            </a:r>
            <a:endParaRPr lang="en-US" sz="1050" dirty="0"/>
          </a:p>
        </p:txBody>
      </p:sp>
      <p:sp>
        <p:nvSpPr>
          <p:cNvPr id="42" name="Text 29"/>
          <p:cNvSpPr/>
          <p:nvPr/>
        </p:nvSpPr>
        <p:spPr>
          <a:xfrm>
            <a:off x="9208008" y="272491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47526A"/>
                </a:solidFill>
              </a:rPr>
              <a:t>Per stack</a:t>
            </a:r>
            <a:endParaRPr lang="en-US" sz="780" dirty="0"/>
          </a:p>
        </p:txBody>
      </p:sp>
      <p:sp>
        <p:nvSpPr>
          <p:cNvPr id="43" name="Shape 30"/>
          <p:cNvSpPr/>
          <p:nvPr/>
        </p:nvSpPr>
        <p:spPr>
          <a:xfrm>
            <a:off x="548640" y="3474720"/>
            <a:ext cx="1143000" cy="713232"/>
          </a:xfrm>
          <a:prstGeom prst="roundRect">
            <a:avLst>
              <a:gd name="adj" fmla="val 10256"/>
            </a:avLst>
          </a:prstGeom>
          <a:solidFill>
            <a:srgbClr val="121C30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44" name="Text 31"/>
          <p:cNvSpPr/>
          <p:nvPr/>
        </p:nvSpPr>
        <p:spPr>
          <a:xfrm>
            <a:off x="548640" y="35661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CLOB</a:t>
            </a:r>
            <a:endParaRPr lang="en-US" sz="1600" dirty="0"/>
          </a:p>
        </p:txBody>
      </p:sp>
      <p:sp>
        <p:nvSpPr>
          <p:cNvPr id="45" name="Text 32"/>
          <p:cNvSpPr/>
          <p:nvPr/>
        </p:nvSpPr>
        <p:spPr>
          <a:xfrm>
            <a:off x="548640" y="38770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5B8DEF"/>
                </a:solidFill>
              </a:rPr>
              <a:t>STACK</a:t>
            </a:r>
            <a:endParaRPr lang="en-US" sz="850" dirty="0"/>
          </a:p>
        </p:txBody>
      </p:sp>
      <p:sp>
        <p:nvSpPr>
          <p:cNvPr id="46" name="Shape 33"/>
          <p:cNvSpPr/>
          <p:nvPr/>
        </p:nvSpPr>
        <p:spPr>
          <a:xfrm>
            <a:off x="1874520" y="3310128"/>
            <a:ext cx="1298448" cy="1024128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34"/>
          <p:cNvSpPr/>
          <p:nvPr/>
        </p:nvSpPr>
        <p:spPr>
          <a:xfrm>
            <a:off x="1874520" y="3310128"/>
            <a:ext cx="1298448" cy="54864"/>
          </a:xfrm>
          <a:prstGeom prst="rect">
            <a:avLst/>
          </a:prstGeom>
          <a:solidFill>
            <a:srgbClr val="5B8DEF"/>
          </a:solidFill>
          <a:ln/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77440" y="3456432"/>
            <a:ext cx="292608" cy="292608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1911096" y="378561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1"/>
                </a:solidFill>
              </a:rPr>
              <a:t>CAMM</a:t>
            </a:r>
            <a:endParaRPr lang="en-US" sz="1050" dirty="0"/>
          </a:p>
        </p:txBody>
      </p:sp>
      <p:sp>
        <p:nvSpPr>
          <p:cNvPr id="50" name="Text 36"/>
          <p:cNvSpPr/>
          <p:nvPr/>
        </p:nvSpPr>
        <p:spPr>
          <a:xfrm>
            <a:off x="1911096" y="406908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47526A"/>
                </a:solidFill>
              </a:rPr>
              <a:t>RFQ / CLOB venue</a:t>
            </a:r>
            <a:endParaRPr lang="en-US" sz="780" dirty="0"/>
          </a:p>
        </p:txBody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61995" y="3712464"/>
            <a:ext cx="182880" cy="182880"/>
          </a:xfrm>
          <a:prstGeom prst="rect">
            <a:avLst/>
          </a:prstGeom>
        </p:spPr>
      </p:pic>
      <p:sp>
        <p:nvSpPr>
          <p:cNvPr id="52" name="Shape 37"/>
          <p:cNvSpPr/>
          <p:nvPr/>
        </p:nvSpPr>
        <p:spPr>
          <a:xfrm>
            <a:off x="3333902" y="3310128"/>
            <a:ext cx="1298448" cy="1024128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Shape 38"/>
          <p:cNvSpPr/>
          <p:nvPr/>
        </p:nvSpPr>
        <p:spPr>
          <a:xfrm>
            <a:off x="3333902" y="3310128"/>
            <a:ext cx="1298448" cy="54864"/>
          </a:xfrm>
          <a:prstGeom prst="rect">
            <a:avLst/>
          </a:prstGeom>
          <a:solidFill>
            <a:srgbClr val="5B8DEF"/>
          </a:solidFill>
          <a:ln/>
        </p:spPr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36822" y="3456432"/>
            <a:ext cx="292608" cy="292608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3370478" y="378561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1"/>
                </a:solidFill>
              </a:rPr>
              <a:t>Solace</a:t>
            </a:r>
            <a:endParaRPr lang="en-US" sz="1050" dirty="0"/>
          </a:p>
        </p:txBody>
      </p:sp>
      <p:sp>
        <p:nvSpPr>
          <p:cNvPr id="56" name="Text 40"/>
          <p:cNvSpPr/>
          <p:nvPr/>
        </p:nvSpPr>
        <p:spPr>
          <a:xfrm>
            <a:off x="3370478" y="406908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47526A"/>
                </a:solidFill>
              </a:rPr>
              <a:t>Messaging bus</a:t>
            </a:r>
            <a:endParaRPr lang="en-US" sz="78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21378" y="3712464"/>
            <a:ext cx="182880" cy="182880"/>
          </a:xfrm>
          <a:prstGeom prst="rect">
            <a:avLst/>
          </a:prstGeom>
        </p:spPr>
      </p:pic>
      <p:sp>
        <p:nvSpPr>
          <p:cNvPr id="58" name="Shape 41"/>
          <p:cNvSpPr/>
          <p:nvPr/>
        </p:nvSpPr>
        <p:spPr>
          <a:xfrm>
            <a:off x="4793285" y="3310128"/>
            <a:ext cx="1298448" cy="1024128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Shape 42"/>
          <p:cNvSpPr/>
          <p:nvPr/>
        </p:nvSpPr>
        <p:spPr>
          <a:xfrm>
            <a:off x="4793285" y="3310128"/>
            <a:ext cx="1298448" cy="54864"/>
          </a:xfrm>
          <a:prstGeom prst="rect">
            <a:avLst/>
          </a:prstGeom>
          <a:solidFill>
            <a:srgbClr val="5B8DEF"/>
          </a:solidFill>
          <a:ln/>
        </p:spPr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96205" y="3456432"/>
            <a:ext cx="292608" cy="292608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4829861" y="378561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1"/>
                </a:solidFill>
              </a:rPr>
              <a:t>Rubicon Bridges</a:t>
            </a:r>
            <a:endParaRPr lang="en-US" sz="1050" dirty="0"/>
          </a:p>
        </p:txBody>
      </p:sp>
      <p:sp>
        <p:nvSpPr>
          <p:cNvPr id="62" name="Text 44"/>
          <p:cNvSpPr/>
          <p:nvPr/>
        </p:nvSpPr>
        <p:spPr>
          <a:xfrm>
            <a:off x="4829861" y="406908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47526A"/>
                </a:solidFill>
              </a:rPr>
              <a:t>Java processes</a:t>
            </a:r>
            <a:endParaRPr lang="en-US" sz="78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80760" y="3712464"/>
            <a:ext cx="182880" cy="182880"/>
          </a:xfrm>
          <a:prstGeom prst="rect">
            <a:avLst/>
          </a:prstGeom>
        </p:spPr>
      </p:pic>
      <p:sp>
        <p:nvSpPr>
          <p:cNvPr id="64" name="Shape 45"/>
          <p:cNvSpPr/>
          <p:nvPr/>
        </p:nvSpPr>
        <p:spPr>
          <a:xfrm>
            <a:off x="6252667" y="3310128"/>
            <a:ext cx="1298448" cy="1024128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5" name="Shape 46"/>
          <p:cNvSpPr/>
          <p:nvPr/>
        </p:nvSpPr>
        <p:spPr>
          <a:xfrm>
            <a:off x="6252667" y="3310128"/>
            <a:ext cx="1298448" cy="54864"/>
          </a:xfrm>
          <a:prstGeom prst="rect">
            <a:avLst/>
          </a:prstGeom>
          <a:solidFill>
            <a:srgbClr val="5B8DEF"/>
          </a:solidFill>
          <a:ln/>
        </p:spPr>
      </p:sp>
      <p:pic>
        <p:nvPicPr>
          <p:cNvPr id="6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55587" y="3456432"/>
            <a:ext cx="292608" cy="292608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6289243" y="378561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1"/>
                </a:solidFill>
              </a:rPr>
              <a:t>Coherence Cache</a:t>
            </a:r>
            <a:endParaRPr lang="en-US" sz="1050" dirty="0"/>
          </a:p>
        </p:txBody>
      </p:sp>
      <p:sp>
        <p:nvSpPr>
          <p:cNvPr id="68" name="Text 48"/>
          <p:cNvSpPr/>
          <p:nvPr/>
        </p:nvSpPr>
        <p:spPr>
          <a:xfrm>
            <a:off x="6289243" y="406908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47526A"/>
                </a:solidFill>
              </a:rPr>
              <a:t>In-memory grid</a:t>
            </a:r>
            <a:endParaRPr lang="en-US" sz="780" dirty="0"/>
          </a:p>
        </p:txBody>
      </p:sp>
      <p:pic>
        <p:nvPicPr>
          <p:cNvPr id="6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40142" y="3712464"/>
            <a:ext cx="182880" cy="182880"/>
          </a:xfrm>
          <a:prstGeom prst="rect">
            <a:avLst/>
          </a:prstGeom>
        </p:spPr>
      </p:pic>
      <p:sp>
        <p:nvSpPr>
          <p:cNvPr id="70" name="Shape 49"/>
          <p:cNvSpPr/>
          <p:nvPr/>
        </p:nvSpPr>
        <p:spPr>
          <a:xfrm>
            <a:off x="7712050" y="3310128"/>
            <a:ext cx="1298448" cy="1024128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1" name="Shape 50"/>
          <p:cNvSpPr/>
          <p:nvPr/>
        </p:nvSpPr>
        <p:spPr>
          <a:xfrm>
            <a:off x="7712050" y="3310128"/>
            <a:ext cx="1298448" cy="54864"/>
          </a:xfrm>
          <a:prstGeom prst="rect">
            <a:avLst/>
          </a:prstGeom>
          <a:solidFill>
            <a:srgbClr val="5B8DEF"/>
          </a:solidFill>
          <a:ln/>
        </p:spPr>
      </p:sp>
      <p:pic>
        <p:nvPicPr>
          <p:cNvPr id="7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14970" y="3456432"/>
            <a:ext cx="292608" cy="292608"/>
          </a:xfrm>
          <a:prstGeom prst="rect">
            <a:avLst/>
          </a:prstGeom>
        </p:spPr>
      </p:pic>
      <p:sp>
        <p:nvSpPr>
          <p:cNvPr id="73" name="Text 51"/>
          <p:cNvSpPr/>
          <p:nvPr/>
        </p:nvSpPr>
        <p:spPr>
          <a:xfrm>
            <a:off x="7748626" y="378561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1"/>
                </a:solidFill>
              </a:rPr>
              <a:t>E-Trading Adapter</a:t>
            </a:r>
            <a:endParaRPr lang="en-US" sz="1050" dirty="0"/>
          </a:p>
        </p:txBody>
      </p:sp>
      <p:sp>
        <p:nvSpPr>
          <p:cNvPr id="74" name="Text 52"/>
          <p:cNvSpPr/>
          <p:nvPr/>
        </p:nvSpPr>
        <p:spPr>
          <a:xfrm>
            <a:off x="7748626" y="406908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47526A"/>
                </a:solidFill>
              </a:rPr>
              <a:t>Spring Boot Java process</a:t>
            </a:r>
            <a:endParaRPr lang="en-US" sz="780" dirty="0"/>
          </a:p>
        </p:txBody>
      </p:sp>
      <p:pic>
        <p:nvPicPr>
          <p:cNvPr id="7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99525" y="3712464"/>
            <a:ext cx="182880" cy="182880"/>
          </a:xfrm>
          <a:prstGeom prst="rect">
            <a:avLst/>
          </a:prstGeom>
        </p:spPr>
      </p:pic>
      <p:sp>
        <p:nvSpPr>
          <p:cNvPr id="76" name="Shape 53"/>
          <p:cNvSpPr/>
          <p:nvPr/>
        </p:nvSpPr>
        <p:spPr>
          <a:xfrm>
            <a:off x="9171432" y="3310128"/>
            <a:ext cx="1298448" cy="1024128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7" name="Shape 54"/>
          <p:cNvSpPr/>
          <p:nvPr/>
        </p:nvSpPr>
        <p:spPr>
          <a:xfrm>
            <a:off x="9171432" y="3310128"/>
            <a:ext cx="1298448" cy="54864"/>
          </a:xfrm>
          <a:prstGeom prst="rect">
            <a:avLst/>
          </a:prstGeom>
          <a:solidFill>
            <a:srgbClr val="5B8DEF"/>
          </a:solidFill>
          <a:ln/>
        </p:spPr>
      </p:sp>
      <p:pic>
        <p:nvPicPr>
          <p:cNvPr id="7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74352" y="3456432"/>
            <a:ext cx="292608" cy="292608"/>
          </a:xfrm>
          <a:prstGeom prst="rect">
            <a:avLst/>
          </a:prstGeom>
        </p:spPr>
      </p:pic>
      <p:sp>
        <p:nvSpPr>
          <p:cNvPr id="79" name="Text 55"/>
          <p:cNvSpPr/>
          <p:nvPr/>
        </p:nvSpPr>
        <p:spPr>
          <a:xfrm>
            <a:off x="9208008" y="378561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1"/>
                </a:solidFill>
              </a:rPr>
              <a:t>AMPS</a:t>
            </a:r>
            <a:endParaRPr lang="en-US" sz="1050" dirty="0"/>
          </a:p>
        </p:txBody>
      </p:sp>
      <p:sp>
        <p:nvSpPr>
          <p:cNvPr id="80" name="Text 56"/>
          <p:cNvSpPr/>
          <p:nvPr/>
        </p:nvSpPr>
        <p:spPr>
          <a:xfrm>
            <a:off x="9208008" y="406908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47526A"/>
                </a:solidFill>
              </a:rPr>
              <a:t>Per stack</a:t>
            </a:r>
            <a:endParaRPr lang="en-US" sz="780" dirty="0"/>
          </a:p>
        </p:txBody>
      </p:sp>
      <p:pic>
        <p:nvPicPr>
          <p:cNvPr id="8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5400000">
            <a:off x="9701784" y="4407408"/>
            <a:ext cx="237744" cy="237744"/>
          </a:xfrm>
          <a:prstGeom prst="rect">
            <a:avLst/>
          </a:prstGeom>
        </p:spPr>
      </p:pic>
      <p:sp>
        <p:nvSpPr>
          <p:cNvPr id="82" name="Shape 57"/>
          <p:cNvSpPr/>
          <p:nvPr/>
        </p:nvSpPr>
        <p:spPr>
          <a:xfrm>
            <a:off x="1874520" y="4892040"/>
            <a:ext cx="8595360" cy="1417320"/>
          </a:xfrm>
          <a:prstGeom prst="rect">
            <a:avLst/>
          </a:prstGeom>
          <a:solidFill>
            <a:srgbClr val="0B1221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40280" y="5349240"/>
            <a:ext cx="502920" cy="502920"/>
          </a:xfrm>
          <a:prstGeom prst="rect">
            <a:avLst/>
          </a:prstGeom>
        </p:spPr>
      </p:pic>
      <p:sp>
        <p:nvSpPr>
          <p:cNvPr id="84" name="Text 58"/>
          <p:cNvSpPr/>
          <p:nvPr/>
        </p:nvSpPr>
        <p:spPr>
          <a:xfrm>
            <a:off x="2971800" y="51480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Rubicon E-Trading Desktop</a:t>
            </a:r>
            <a:endParaRPr lang="en-US" sz="1800" dirty="0"/>
          </a:p>
        </p:txBody>
      </p:sp>
      <p:sp>
        <p:nvSpPr>
          <p:cNvPr id="85" name="Text 59"/>
          <p:cNvSpPr/>
          <p:nvPr/>
        </p:nvSpPr>
        <p:spPr>
          <a:xfrm>
            <a:off x="2971800" y="55504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</a:rPr>
              <a:t>OpenFin · Unified </a:t>
            </a:r>
            <a:pPr indent="0" marL="0">
              <a:buNone/>
            </a:pPr>
            <a:r>
              <a:rPr lang="en-US" sz="1250" dirty="0">
                <a:solidFill>
                  <a:srgbClr val="B7C2D6"/>
                </a:solidFill>
              </a:rPr>
              <a:t>RFQ + CLOB in one surface — single, consistent experience for traders.</a:t>
            </a:r>
            <a:endParaRPr lang="en-US" sz="1250" dirty="0"/>
          </a:p>
        </p:txBody>
      </p:sp>
      <p:sp>
        <p:nvSpPr>
          <p:cNvPr id="86" name="Shape 60"/>
          <p:cNvSpPr/>
          <p:nvPr/>
        </p:nvSpPr>
        <p:spPr>
          <a:xfrm>
            <a:off x="8001000" y="5148072"/>
            <a:ext cx="2240280" cy="914400"/>
          </a:xfrm>
          <a:prstGeom prst="rect">
            <a:avLst/>
          </a:prstGeom>
          <a:solidFill>
            <a:srgbClr val="1A2740"/>
          </a:solidFill>
          <a:ln w="12700">
            <a:solidFill>
              <a:srgbClr val="26344F"/>
            </a:solidFill>
            <a:prstDash val="solid"/>
          </a:ln>
        </p:spPr>
      </p:sp>
      <p:sp>
        <p:nvSpPr>
          <p:cNvPr id="87" name="Text 61"/>
          <p:cNvSpPr/>
          <p:nvPr/>
        </p:nvSpPr>
        <p:spPr>
          <a:xfrm>
            <a:off x="8138160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Per-stack isolation</a:t>
            </a:r>
            <a:endParaRPr lang="en-US" sz="1100" dirty="0"/>
          </a:p>
        </p:txBody>
      </p:sp>
      <p:sp>
        <p:nvSpPr>
          <p:cNvPr id="88" name="Text 62"/>
          <p:cNvSpPr/>
          <p:nvPr/>
        </p:nvSpPr>
        <p:spPr>
          <a:xfrm>
            <a:off x="8138160" y="55138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2D6"/>
                </a:solidFill>
              </a:rPr>
              <a:t>Independent Solace, cache &amp; AMPS instances → fault isolation between RFQ and CLOB.</a:t>
            </a:r>
            <a:endParaRPr lang="en-US" sz="900" dirty="0"/>
          </a:p>
        </p:txBody>
      </p:sp>
      <p:sp>
        <p:nvSpPr>
          <p:cNvPr id="89" name="Text 63"/>
          <p:cNvSpPr/>
          <p:nvPr/>
        </p:nvSpPr>
        <p:spPr>
          <a:xfrm>
            <a:off x="548640" y="53492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7526A"/>
                </a:solidFill>
              </a:rPr>
              <a:t>Identical pipeline per stack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PLATFORM RATIONALE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AMPS Is the Right Backbone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C2D6"/>
                </a:solidFill>
              </a:rPr>
              <a:t>Purpose-built messaging for high-throughput, low-latency trading data — features that map directly to our RFQ/CLOB needs.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53384" cy="1783080"/>
          </a:xfrm>
          <a:prstGeom prst="rect">
            <a:avLst/>
          </a:prstGeom>
          <a:solidFill>
            <a:srgbClr val="121C30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58568"/>
            <a:ext cx="566928" cy="566928"/>
          </a:xfrm>
          <a:prstGeom prst="ellipse">
            <a:avLst/>
          </a:prstGeom>
          <a:solidFill>
            <a:srgbClr val="1A2740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4048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76856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Low-Latency Pub/Sub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41248" y="2990088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2D6"/>
                </a:solidFill>
              </a:rPr>
              <a:t>Sub-millisecond fan-out keeps trader screens in lock-step with the venue.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7784" y="1965960"/>
            <a:ext cx="3453384" cy="1783080"/>
          </a:xfrm>
          <a:prstGeom prst="rect">
            <a:avLst/>
          </a:prstGeom>
          <a:solidFill>
            <a:srgbClr val="121C30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2104" y="2258568"/>
            <a:ext cx="566928" cy="566928"/>
          </a:xfrm>
          <a:prstGeom prst="ellipse">
            <a:avLst/>
          </a:prstGeom>
          <a:solidFill>
            <a:srgbClr val="1A2740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408" y="24048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3624" y="2276856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State-of-the-World (SOW)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60392" y="2990088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2D6"/>
                </a:solidFill>
              </a:rPr>
              <a:t>Last-value cache delivers an instant snapshot on connect — no warm-up replay.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86928" y="1965960"/>
            <a:ext cx="3453384" cy="1783080"/>
          </a:xfrm>
          <a:prstGeom prst="rect">
            <a:avLst/>
          </a:prstGeom>
          <a:solidFill>
            <a:srgbClr val="121C30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61248" y="2258568"/>
            <a:ext cx="566928" cy="566928"/>
          </a:xfrm>
          <a:prstGeom prst="ellipse">
            <a:avLst/>
          </a:prstGeom>
          <a:solidFill>
            <a:srgbClr val="1A2740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552" y="240487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92768" y="2276856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Filtering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79536" y="2990088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2D6"/>
                </a:solidFill>
              </a:rPr>
              <a:t>Server-side SQL-style filters push only relevant rows; clients stay light.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453384" cy="1783080"/>
          </a:xfrm>
          <a:prstGeom prst="rect">
            <a:avLst/>
          </a:prstGeom>
          <a:solidFill>
            <a:srgbClr val="121C30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361688"/>
            <a:ext cx="566928" cy="566928"/>
          </a:xfrm>
          <a:prstGeom prst="ellipse">
            <a:avLst/>
          </a:prstGeom>
          <a:solidFill>
            <a:srgbClr val="1A2740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50799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379976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Snapshot + Streaming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41248" y="5093208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2D6"/>
                </a:solidFill>
              </a:rPr>
              <a:t>Atomic snapshot then live deltas — perfect for blotters and depth grids.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67784" y="4069080"/>
            <a:ext cx="3453384" cy="1783080"/>
          </a:xfrm>
          <a:prstGeom prst="rect">
            <a:avLst/>
          </a:prstGeom>
          <a:solidFill>
            <a:srgbClr val="121C30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42104" y="4361688"/>
            <a:ext cx="566928" cy="566928"/>
          </a:xfrm>
          <a:prstGeom prst="ellipse">
            <a:avLst/>
          </a:prstGeom>
          <a:solidFill>
            <a:srgbClr val="1A2740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408" y="450799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73624" y="4379976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 &amp; Failover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60392" y="5093208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2D6"/>
                </a:solidFill>
              </a:rPr>
              <a:t>Per-stack instances with HA replication isolate RFQ and CLOB failures.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86928" y="4069080"/>
            <a:ext cx="3453384" cy="1783080"/>
          </a:xfrm>
          <a:prstGeom prst="rect">
            <a:avLst/>
          </a:prstGeom>
          <a:solidFill>
            <a:srgbClr val="121C30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61248" y="4361688"/>
            <a:ext cx="566928" cy="566928"/>
          </a:xfrm>
          <a:prstGeom prst="ellipse">
            <a:avLst/>
          </a:prstGeom>
          <a:solidFill>
            <a:srgbClr val="1A2740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7552" y="4507992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92768" y="4379976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Scales with the Desk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479536" y="5093208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2D6"/>
                </a:solidFill>
              </a:rPr>
              <a:t>Proven for many concurrent traders and high update rates without degradation.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DELIVERY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 &amp; Micro-Frontends Delivered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26A"/>
                </a:solidFill>
              </a:rPr>
              <a:t>Delivered micro-frontends on the unified desktop, grouped by function.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084832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5440680" cy="512064"/>
          </a:xfrm>
          <a:prstGeom prst="rect">
            <a:avLst/>
          </a:prstGeom>
          <a:solidFill>
            <a:srgbClr val="121C3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208483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783080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Trading &amp; Execution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D4BF"/>
                </a:solidFill>
              </a:rPr>
              <a:t>4 screens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51460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2459736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1"/>
                </a:solidFill>
              </a:rPr>
              <a:t>Top of the Book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7180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0432" y="2916936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1"/>
                </a:solidFill>
              </a:rPr>
              <a:t>Order Entry (via Top of Book)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708" y="251460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07892" y="2459736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1"/>
                </a:solidFill>
              </a:rPr>
              <a:t>Order Blotter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708" y="2971800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707892" y="2916936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1"/>
                </a:solidFill>
              </a:rPr>
              <a:t>Executions Blotter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382512" y="1783080"/>
            <a:ext cx="5440680" cy="2084832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82512" y="1783080"/>
            <a:ext cx="5440680" cy="512064"/>
          </a:xfrm>
          <a:prstGeom prst="rect">
            <a:avLst/>
          </a:prstGeom>
          <a:solidFill>
            <a:srgbClr val="121C30"/>
          </a:solidFill>
          <a:ln/>
        </p:spPr>
      </p:sp>
      <p:sp>
        <p:nvSpPr>
          <p:cNvPr id="20" name="Shape 14"/>
          <p:cNvSpPr/>
          <p:nvPr/>
        </p:nvSpPr>
        <p:spPr>
          <a:xfrm>
            <a:off x="6382512" y="1783080"/>
            <a:ext cx="73152" cy="208483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1" name="Text 15"/>
          <p:cNvSpPr/>
          <p:nvPr/>
        </p:nvSpPr>
        <p:spPr>
          <a:xfrm>
            <a:off x="6638544" y="1783080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Data &amp; Monitoring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82512" y="1901952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8DEF"/>
                </a:solidFill>
              </a:rPr>
              <a:t>3 screens</a:t>
            </a:r>
            <a:endParaRPr lang="en-US" sz="1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51460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04304" y="245973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1"/>
                </a:solidFill>
              </a:rPr>
              <a:t>Market Watch Blotter</a:t>
            </a:r>
            <a:endParaRPr lang="en-US" sz="11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971800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04304" y="291693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1"/>
                </a:solidFill>
              </a:rPr>
              <a:t>CLMM Dashboard</a:t>
            </a:r>
            <a:endParaRPr lang="en-US" sz="11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3429000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004304" y="337413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1"/>
                </a:solidFill>
              </a:rPr>
              <a:t>Notifications — Fills &amp; Algo Alerts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548640" y="4069080"/>
            <a:ext cx="5440680" cy="2084832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548640" y="4069080"/>
            <a:ext cx="5440680" cy="512064"/>
          </a:xfrm>
          <a:prstGeom prst="rect">
            <a:avLst/>
          </a:prstGeom>
          <a:solidFill>
            <a:srgbClr val="121C30"/>
          </a:solidFill>
          <a:ln/>
        </p:spPr>
      </p:sp>
      <p:sp>
        <p:nvSpPr>
          <p:cNvPr id="31" name="Shape 22"/>
          <p:cNvSpPr/>
          <p:nvPr/>
        </p:nvSpPr>
        <p:spPr>
          <a:xfrm>
            <a:off x="548640" y="4069080"/>
            <a:ext cx="73152" cy="2084832"/>
          </a:xfrm>
          <a:prstGeom prst="rect">
            <a:avLst/>
          </a:prstGeom>
          <a:solidFill>
            <a:srgbClr val="F5B43C"/>
          </a:solidFill>
          <a:ln/>
        </p:spPr>
      </p:sp>
      <p:sp>
        <p:nvSpPr>
          <p:cNvPr id="32" name="Text 23"/>
          <p:cNvSpPr/>
          <p:nvPr/>
        </p:nvSpPr>
        <p:spPr>
          <a:xfrm>
            <a:off x="804672" y="4069080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RFQ, Coverage &amp; Sales</a:t>
            </a:r>
            <a:endParaRPr lang="en-US" sz="1450" dirty="0"/>
          </a:p>
        </p:txBody>
      </p:sp>
      <p:sp>
        <p:nvSpPr>
          <p:cNvPr id="33" name="Text 24"/>
          <p:cNvSpPr/>
          <p:nvPr/>
        </p:nvSpPr>
        <p:spPr>
          <a:xfrm>
            <a:off x="548640" y="4187952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B43C"/>
                </a:solidFill>
              </a:rPr>
              <a:t>5 screens</a:t>
            </a:r>
            <a:endParaRPr lang="en-US" sz="10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" y="4800600"/>
            <a:ext cx="219456" cy="21945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170432" y="4745736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1"/>
                </a:solidFill>
              </a:rPr>
              <a:t>ATW (At-the-Window)</a:t>
            </a:r>
            <a:endParaRPr lang="en-US" sz="11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5257800"/>
            <a:ext cx="219456" cy="219456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170432" y="5202936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1"/>
                </a:solidFill>
              </a:rPr>
              <a:t>In RFQ</a:t>
            </a:r>
            <a:endParaRPr lang="en-US" sz="11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8" y="5715000"/>
            <a:ext cx="219456" cy="219456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170432" y="5660136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1"/>
                </a:solidFill>
              </a:rPr>
              <a:t>Coverage</a:t>
            </a:r>
            <a:endParaRPr lang="en-US" sz="115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8708" y="4800600"/>
            <a:ext cx="219456" cy="219456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3707892" y="4745736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1"/>
                </a:solidFill>
              </a:rPr>
              <a:t>Offerings</a:t>
            </a:r>
            <a:endParaRPr lang="en-US" sz="115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78708" y="5257800"/>
            <a:ext cx="219456" cy="219456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3707892" y="5202936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1"/>
                </a:solidFill>
              </a:rPr>
              <a:t>Coverage &amp; Trading Pods</a:t>
            </a:r>
            <a:endParaRPr lang="en-US" sz="1150" dirty="0"/>
          </a:p>
        </p:txBody>
      </p:sp>
      <p:sp>
        <p:nvSpPr>
          <p:cNvPr id="44" name="Shape 30"/>
          <p:cNvSpPr/>
          <p:nvPr/>
        </p:nvSpPr>
        <p:spPr>
          <a:xfrm>
            <a:off x="6382512" y="4069080"/>
            <a:ext cx="5440680" cy="2084832"/>
          </a:xfrm>
          <a:prstGeom prst="rect">
            <a:avLst/>
          </a:prstGeom>
          <a:solidFill>
            <a:srgbClr val="F3F6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31"/>
          <p:cNvSpPr/>
          <p:nvPr/>
        </p:nvSpPr>
        <p:spPr>
          <a:xfrm>
            <a:off x="6382512" y="4069080"/>
            <a:ext cx="5440680" cy="512064"/>
          </a:xfrm>
          <a:prstGeom prst="rect">
            <a:avLst/>
          </a:prstGeom>
          <a:solidFill>
            <a:srgbClr val="121C30"/>
          </a:solidFill>
          <a:ln/>
        </p:spPr>
      </p:sp>
      <p:sp>
        <p:nvSpPr>
          <p:cNvPr id="46" name="Shape 32"/>
          <p:cNvSpPr/>
          <p:nvPr/>
        </p:nvSpPr>
        <p:spPr>
          <a:xfrm>
            <a:off x="6382512" y="4069080"/>
            <a:ext cx="73152" cy="2084832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47" name="Text 33"/>
          <p:cNvSpPr/>
          <p:nvPr/>
        </p:nvSpPr>
        <p:spPr>
          <a:xfrm>
            <a:off x="6638544" y="4069080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&amp; Ops</a:t>
            </a:r>
            <a:endParaRPr lang="en-US" sz="1450" dirty="0"/>
          </a:p>
        </p:txBody>
      </p:sp>
      <p:sp>
        <p:nvSpPr>
          <p:cNvPr id="48" name="Text 34"/>
          <p:cNvSpPr/>
          <p:nvPr/>
        </p:nvSpPr>
        <p:spPr>
          <a:xfrm>
            <a:off x="6382512" y="4187952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9384"/>
                </a:solidFill>
              </a:rPr>
              <a:t>1 screen</a:t>
            </a:r>
            <a:endParaRPr lang="en-US" sz="1000" dirty="0"/>
          </a:p>
        </p:txBody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5120" y="4800600"/>
            <a:ext cx="219456" cy="219456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7004304" y="474573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1"/>
                </a:solidFill>
              </a:rPr>
              <a:t>Activate / De-activate Trader Logging</a:t>
            </a:r>
            <a:endParaRPr lang="en-US" sz="1150" dirty="0"/>
          </a:p>
        </p:txBody>
      </p:sp>
      <p:sp>
        <p:nvSpPr>
          <p:cNvPr id="51" name="Text 36"/>
          <p:cNvSpPr/>
          <p:nvPr/>
        </p:nvSpPr>
        <p:spPr>
          <a:xfrm>
            <a:off x="548640" y="64190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</a:t>
            </a:r>
            <a:pPr indent="0" marL="0">
              <a:buNone/>
            </a:pPr>
            <a:r>
              <a:rPr lang="en-US" sz="1200" dirty="0">
                <a:solidFill>
                  <a:srgbClr val="4752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 delivered across the unified RFQ + CLOB desktop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to Production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C2D6"/>
                </a:solidFill>
              </a:rPr>
              <a:t>Targeting production go-live at the end of June 2026.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372600" y="411480"/>
            <a:ext cx="2267712" cy="1051560"/>
          </a:xfrm>
          <a:prstGeom prst="rect">
            <a:avLst/>
          </a:prstGeom>
          <a:solidFill>
            <a:srgbClr val="121C30"/>
          </a:solidFill>
          <a:ln w="19050">
            <a:solidFill>
              <a:srgbClr val="F5B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566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5486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B43C"/>
                </a:solidFill>
              </a:rPr>
              <a:t>GO-LIVE TARGET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555480" y="9326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June 2026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3383280"/>
            <a:ext cx="10561320" cy="0"/>
          </a:xfrm>
          <a:prstGeom prst="line">
            <a:avLst/>
          </a:prstGeom>
          <a:noFill/>
          <a:ln w="25400">
            <a:solidFill>
              <a:srgbClr val="2634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3264408"/>
            <a:ext cx="237744" cy="237744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B122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999232"/>
            <a:ext cx="0" cy="384048"/>
          </a:xfrm>
          <a:prstGeom prst="line">
            <a:avLst/>
          </a:prstGeom>
          <a:noFill/>
          <a:ln w="12700">
            <a:solidFill>
              <a:srgbClr val="26344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901952"/>
            <a:ext cx="2011680" cy="1097280"/>
          </a:xfrm>
          <a:prstGeom prst="rect">
            <a:avLst/>
          </a:prstGeom>
          <a:solidFill>
            <a:srgbClr val="121C30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901952"/>
            <a:ext cx="20116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1"/>
          <p:cNvSpPr/>
          <p:nvPr/>
        </p:nvSpPr>
        <p:spPr>
          <a:xfrm>
            <a:off x="694944" y="2011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D4BF"/>
                </a:solidFill>
              </a:rPr>
              <a:t>NOW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4944" y="22128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build &amp; integration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4944" y="252374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7C2D6"/>
                </a:solidFill>
              </a:rPr>
              <a:t>RFQ/CLOB MFEs on AMPS; data flow wired end-to-end.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3390138" y="3264408"/>
            <a:ext cx="237744" cy="237744"/>
          </a:xfrm>
          <a:prstGeom prst="ellipse">
            <a:avLst/>
          </a:prstGeom>
          <a:solidFill>
            <a:srgbClr val="5B8DEF"/>
          </a:solidFill>
          <a:ln w="25400">
            <a:solidFill>
              <a:srgbClr val="0B122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09010" y="3429000"/>
            <a:ext cx="0" cy="338328"/>
          </a:xfrm>
          <a:prstGeom prst="line">
            <a:avLst/>
          </a:prstGeom>
          <a:noFill/>
          <a:ln w="12700">
            <a:solidFill>
              <a:srgbClr val="26344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03170" y="3767328"/>
            <a:ext cx="2011680" cy="1097280"/>
          </a:xfrm>
          <a:prstGeom prst="rect">
            <a:avLst/>
          </a:prstGeom>
          <a:solidFill>
            <a:srgbClr val="121C30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503170" y="3767328"/>
            <a:ext cx="2011680" cy="548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1" name="Text 18"/>
          <p:cNvSpPr/>
          <p:nvPr/>
        </p:nvSpPr>
        <p:spPr>
          <a:xfrm>
            <a:off x="2649474" y="38770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8DEF"/>
                </a:solidFill>
              </a:rPr>
              <a:t>Q2 — APR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649474" y="40782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complete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649474" y="43891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7C2D6"/>
                </a:solidFill>
              </a:rPr>
              <a:t>Remaining screens delivered; unified desktop assembled.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6030468" y="3264408"/>
            <a:ext cx="237744" cy="237744"/>
          </a:xfrm>
          <a:prstGeom prst="ellipse">
            <a:avLst/>
          </a:prstGeom>
          <a:solidFill>
            <a:srgbClr val="5B8DEF"/>
          </a:solidFill>
          <a:ln w="25400">
            <a:solidFill>
              <a:srgbClr val="0B122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49340" y="2999232"/>
            <a:ext cx="0" cy="384048"/>
          </a:xfrm>
          <a:prstGeom prst="line">
            <a:avLst/>
          </a:prstGeom>
          <a:noFill/>
          <a:ln w="12700">
            <a:solidFill>
              <a:srgbClr val="26344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0" y="1901952"/>
            <a:ext cx="2011680" cy="1097280"/>
          </a:xfrm>
          <a:prstGeom prst="rect">
            <a:avLst/>
          </a:prstGeom>
          <a:solidFill>
            <a:srgbClr val="121C30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143500" y="1901952"/>
            <a:ext cx="2011680" cy="548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8" name="Text 25"/>
          <p:cNvSpPr/>
          <p:nvPr/>
        </p:nvSpPr>
        <p:spPr>
          <a:xfrm>
            <a:off x="5289804" y="2011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8DEF"/>
                </a:solidFill>
              </a:rPr>
              <a:t>Q2 — MAY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289804" y="22128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 &amp; performance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289804" y="252374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7C2D6"/>
                </a:solidFill>
              </a:rPr>
              <a:t>End-to-end testing, latency &amp; resilience validation.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8670798" y="3264408"/>
            <a:ext cx="237744" cy="237744"/>
          </a:xfrm>
          <a:prstGeom prst="ellipse">
            <a:avLst/>
          </a:prstGeom>
          <a:solidFill>
            <a:srgbClr val="5B8DEF"/>
          </a:solidFill>
          <a:ln w="25400">
            <a:solidFill>
              <a:srgbClr val="0B122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789670" y="3429000"/>
            <a:ext cx="0" cy="338328"/>
          </a:xfrm>
          <a:prstGeom prst="line">
            <a:avLst/>
          </a:prstGeom>
          <a:noFill/>
          <a:ln w="12700">
            <a:solidFill>
              <a:srgbClr val="26344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83830" y="3767328"/>
            <a:ext cx="2011680" cy="1097280"/>
          </a:xfrm>
          <a:prstGeom prst="rect">
            <a:avLst/>
          </a:prstGeom>
          <a:solidFill>
            <a:srgbClr val="121C30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783830" y="3767328"/>
            <a:ext cx="2011680" cy="548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5" name="Text 32"/>
          <p:cNvSpPr/>
          <p:nvPr/>
        </p:nvSpPr>
        <p:spPr>
          <a:xfrm>
            <a:off x="7930134" y="38770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8DEF"/>
                </a:solidFill>
              </a:rPr>
              <a:t>Q2 — JUN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930134" y="40782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 &amp; trader sign-off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30134" y="43891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7C2D6"/>
                </a:solidFill>
              </a:rPr>
              <a:t>Parallel run vs. legacy WPF; desk acceptance.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11311128" y="3264408"/>
            <a:ext cx="237744" cy="237744"/>
          </a:xfrm>
          <a:prstGeom prst="ellipse">
            <a:avLst/>
          </a:prstGeom>
          <a:solidFill>
            <a:srgbClr val="F5B43C"/>
          </a:solidFill>
          <a:ln w="25400">
            <a:solidFill>
              <a:srgbClr val="0B122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1228832" y="3182112"/>
            <a:ext cx="402336" cy="402336"/>
          </a:xfrm>
          <a:prstGeom prst="ellipse">
            <a:avLst/>
          </a:prstGeom>
          <a:solidFill>
            <a:srgbClr val="F5B43C">
              <a:alpha val="30000"/>
            </a:srgbClr>
          </a:solidFill>
          <a:ln w="12700">
            <a:solidFill>
              <a:srgbClr val="F5B43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430000" y="2999232"/>
            <a:ext cx="0" cy="384048"/>
          </a:xfrm>
          <a:prstGeom prst="line">
            <a:avLst/>
          </a:prstGeom>
          <a:noFill/>
          <a:ln w="12700">
            <a:solidFill>
              <a:srgbClr val="26344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628632" y="1901952"/>
            <a:ext cx="2011680" cy="1097280"/>
          </a:xfrm>
          <a:prstGeom prst="rect">
            <a:avLst/>
          </a:prstGeom>
          <a:solidFill>
            <a:srgbClr val="121C30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628632" y="1901952"/>
            <a:ext cx="2011680" cy="54864"/>
          </a:xfrm>
          <a:prstGeom prst="rect">
            <a:avLst/>
          </a:prstGeom>
          <a:solidFill>
            <a:srgbClr val="F5B43C"/>
          </a:solidFill>
          <a:ln/>
        </p:spPr>
      </p:sp>
      <p:sp>
        <p:nvSpPr>
          <p:cNvPr id="43" name="Text 40"/>
          <p:cNvSpPr/>
          <p:nvPr/>
        </p:nvSpPr>
        <p:spPr>
          <a:xfrm>
            <a:off x="9774936" y="2011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B43C"/>
                </a:solidFill>
              </a:rPr>
              <a:t>END JUN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9774936" y="22128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go-live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9774936" y="252374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7C2D6"/>
                </a:solidFill>
              </a:rPr>
              <a:t>Cutover to unified Rates E-Trading Desktop.</a:t>
            </a:r>
            <a:endParaRPr lang="en-US" sz="860" dirty="0"/>
          </a:p>
        </p:txBody>
      </p:sp>
      <p:sp>
        <p:nvSpPr>
          <p:cNvPr id="46" name="Shape 43"/>
          <p:cNvSpPr/>
          <p:nvPr/>
        </p:nvSpPr>
        <p:spPr>
          <a:xfrm>
            <a:off x="548640" y="5989320"/>
            <a:ext cx="11091672" cy="566928"/>
          </a:xfrm>
          <a:prstGeom prst="rect">
            <a:avLst/>
          </a:prstGeom>
          <a:solidFill>
            <a:srgbClr val="1A2740"/>
          </a:solidFill>
          <a:ln w="12700">
            <a:solidFill>
              <a:srgbClr val="26344F"/>
            </a:solidFill>
            <a:prstDash val="solid"/>
          </a:ln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126480"/>
            <a:ext cx="292608" cy="292608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1170432" y="605332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</a:rPr>
              <a:t>On track for end-of-June 2026.  </a:t>
            </a:r>
            <a:pPr indent="0" marL="0">
              <a:buNone/>
            </a:pPr>
            <a:r>
              <a:rPr lang="en-US" sz="1150" dirty="0">
                <a:solidFill>
                  <a:srgbClr val="B7C2D6"/>
                </a:solidFill>
              </a:rPr>
              <a:t>Key dependency: completion of remaining shared MFEs and performance sign-off during SIT.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E-Trading Desktop — Management Update</dc:title>
  <dc:subject>PptxGenJS Presentation</dc:subject>
  <dc:creator>Mrudang</dc:creator>
  <cp:lastModifiedBy>Mrudang</cp:lastModifiedBy>
  <cp:revision>1</cp:revision>
  <dcterms:created xsi:type="dcterms:W3CDTF">2026-05-26T13:13:15Z</dcterms:created>
  <dcterms:modified xsi:type="dcterms:W3CDTF">2026-05-26T13:13:16Z</dcterms:modified>
</cp:coreProperties>
</file>